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РЕЧЬ (≈40 сек):
«Контекстная диаграмма — это DFD нулевого уровня. Её делают не ради схемы, а ради трёх конкретных результатов.
Первый — договориться о границе: что платформа делает сама, а что остаётся у партнёров. Второй — получить полный список интеграций, чтобы ни одна не выпала при написании требований. Третий — сформировать основу для функциональных требований: каждый поток данных на диаграмме превращается в требование к системе.»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РЕЧЬ (≈55 сек):
«Первый результат диаграммы — мы точно ответили на вопрос: что строим сами, а что берём снаружи.
Внутри платформы — пять компонентов: личный кабинет клиента, админка, интерфейс охранника, бизнес-логика и сайт. Мы несём за них полную ответственность.
Снаружи — пять кластеров интеграций: СКУД с камерами, платёжный контур, ОФД, SSO и учётные системы. Они делают свою работу, мы лишь обмениваемся данными. Граница зафиксирована — теперь заказчик и команда говорят об одном и том же.»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РЕЧЬ (≈65 сек):
«Второй результат — полный список интеграций, которые нужно спроектировать. Посмотрите на таблицу: шесть ключевых внешних сущностей, у каждой — входящий и исходящий поток.
Третий результат — каждый поток сразу превращается в конкретное решение. СКУД отдаёт ГРЗ — мы проектируем алгоритм проверки по базе договоров. Платёжная система — двухконтурную оплату. SSO — разные схемы входа для ФЛ и ЮЛ.
В итоге из одной диаграммы мы получили 17 сущностей и больше сорока именованных потоков, каждый из которых становится хотя бы одним функциональным требованием.»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РЕЧЬ (≈35 сек):
«Диаграмма сразу показала масштаб: двенадцать внешних сущностей, которые нужно интегрировать. Мы разделили их на два этапа.
МВП — шесть критичных интеграций, которые закрывают основной путь клиента: проехать, заплатить, получить чек. Без них система не работает.
Полная поставка — ещё шесть: SSO, ЭДО, 1С, аналитика и геосервисы. Это расширение ценности, которое подключается итерационно. Диаграмма дала нам этот приоритет явно.»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59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B2B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5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0 · КОНТЕКСТНАЯ ДИАГРАММА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этот артефакт?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1335024"/>
            <a:ext cx="1188720" cy="45720"/>
          </a:xfrm>
          <a:prstGeom prst="rect">
            <a:avLst/>
          </a:prstGeom>
          <a:solidFill>
            <a:srgbClr val="C59B4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08760"/>
            <a:ext cx="2633472" cy="3127248"/>
          </a:xfrm>
          <a:prstGeom prst="rect">
            <a:avLst/>
          </a:prstGeom>
          <a:solidFill>
            <a:srgbClr val="1E3050"/>
          </a:solidFill>
          <a:ln w="12700">
            <a:solidFill>
              <a:srgbClr val="C59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5920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9B4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67512" y="2368296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ответственности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" y="2898648"/>
            <a:ext cx="457200" cy="36576"/>
          </a:xfrm>
          <a:prstGeom prst="rect">
            <a:avLst/>
          </a:prstGeom>
          <a:solidFill>
            <a:srgbClr val="C59B4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026664"/>
            <a:ext cx="23042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8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Фиксирует, что входит в систему и за что платформа не отвечает. Без этого команда строит разное.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55264" y="1508760"/>
            <a:ext cx="2633472" cy="3127248"/>
          </a:xfrm>
          <a:prstGeom prst="rect">
            <a:avLst/>
          </a:prstGeom>
          <a:solidFill>
            <a:srgbClr val="1E3050"/>
          </a:solidFill>
          <a:ln w="12700">
            <a:solidFill>
              <a:srgbClr val="C59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645920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9B4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419856" y="2368296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список интеграций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19856" y="2898648"/>
            <a:ext cx="457200" cy="36576"/>
          </a:xfrm>
          <a:prstGeom prst="rect">
            <a:avLst/>
          </a:prstGeom>
          <a:solidFill>
            <a:srgbClr val="C59B4A"/>
          </a:solidFill>
          <a:ln/>
        </p:spPr>
      </p:sp>
      <p:sp>
        <p:nvSpPr>
          <p:cNvPr id="17" name="Text 15"/>
          <p:cNvSpPr/>
          <p:nvPr/>
        </p:nvSpPr>
        <p:spPr>
          <a:xfrm>
            <a:off x="3419856" y="3026664"/>
            <a:ext cx="23042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8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внешние сущности и потоки данных на одном листе. Ни одна интеграция не выпадет из требований.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07608" y="1508760"/>
            <a:ext cx="2633472" cy="3127248"/>
          </a:xfrm>
          <a:prstGeom prst="rect">
            <a:avLst/>
          </a:prstGeom>
          <a:solidFill>
            <a:srgbClr val="1E3050"/>
          </a:solidFill>
          <a:ln w="12700">
            <a:solidFill>
              <a:srgbClr val="C59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645920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9B4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172200" y="2368296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для требований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2898648"/>
            <a:ext cx="457200" cy="36576"/>
          </a:xfrm>
          <a:prstGeom prst="rect">
            <a:avLst/>
          </a:prstGeom>
          <a:solidFill>
            <a:srgbClr val="C59B4A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026664"/>
            <a:ext cx="23042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8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поток — источник функциональных требований. Диаграмма становится чеклистом для аналитика.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59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01  —  Граница ответственности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 в платформу, а что — нет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3977640" cy="3547872"/>
          </a:xfrm>
          <a:prstGeom prst="rect">
            <a:avLst/>
          </a:prstGeom>
          <a:solidFill>
            <a:srgbClr val="1A2640"/>
          </a:solidFill>
          <a:ln w="12700">
            <a:solidFill>
              <a:srgbClr val="C59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6128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ПЛАТФОРМЫ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(наша зона ответственности)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847088"/>
            <a:ext cx="109728" cy="109728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8013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 (ЛК клиента: бронирование,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договор, оплата)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377440"/>
            <a:ext cx="109728" cy="109728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3317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(управляющий и владелец: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тарифы, отчёты, доступ)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907792"/>
            <a:ext cx="109728" cy="109728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86207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охранника КПП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438144"/>
            <a:ext cx="109728" cy="109728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9242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Бизнес-логика: тарификация, управление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доступом, обработка сессий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3968496"/>
            <a:ext cx="109728" cy="109728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92277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Сайт-визитка и геосервисы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1078992"/>
            <a:ext cx="3977640" cy="3547872"/>
          </a:xfrm>
          <a:prstGeom prst="rect">
            <a:avLst/>
          </a:prstGeom>
          <a:solidFill>
            <a:srgbClr val="EBE8E0"/>
          </a:solidFill>
          <a:ln w="12700">
            <a:solidFill>
              <a:srgbClr val="B0A8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16128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СНАРУЖИ — ИНТЕГРАЦИИ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144475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(их зона ответственности — мы только передаём данные)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56632" y="1847088"/>
            <a:ext cx="109728" cy="109728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4" name="Text 22"/>
          <p:cNvSpPr/>
          <p:nvPr/>
        </p:nvSpPr>
        <p:spPr>
          <a:xfrm>
            <a:off x="5239512" y="1801368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СКУД + LPR-камеры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(распознавание ГРЗ)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56632" y="2377440"/>
            <a:ext cx="109728" cy="109728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6" name="Text 24"/>
          <p:cNvSpPr/>
          <p:nvPr/>
        </p:nvSpPr>
        <p:spPr>
          <a:xfrm>
            <a:off x="5239512" y="2331720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Платёжная система онлайн + терминал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(авторизация и списание)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56632" y="2907792"/>
            <a:ext cx="109728" cy="109728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8" name="Text 26"/>
          <p:cNvSpPr/>
          <p:nvPr/>
        </p:nvSpPr>
        <p:spPr>
          <a:xfrm>
            <a:off x="5239512" y="2862072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ОФД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(фискализация чеков)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56632" y="3438144"/>
            <a:ext cx="109728" cy="109728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30" name="Text 28"/>
          <p:cNvSpPr/>
          <p:nvPr/>
        </p:nvSpPr>
        <p:spPr>
          <a:xfrm>
            <a:off x="5239512" y="3392424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IdP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(аутентификация клиентов-ФЛ)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56632" y="3968496"/>
            <a:ext cx="109728" cy="109728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32" name="Text 30"/>
          <p:cNvSpPr/>
          <p:nvPr/>
        </p:nvSpPr>
        <p:spPr>
          <a:xfrm>
            <a:off x="5239512" y="3922776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ЭДО, Биллинг/1С, Аналитика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(документооборот и учёт ЮЛ)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70248" y="1078992"/>
            <a:ext cx="0" cy="3547872"/>
          </a:xfrm>
          <a:prstGeom prst="line">
            <a:avLst/>
          </a:prstGeom>
          <a:noFill/>
          <a:ln w="12700">
            <a:solidFill>
              <a:srgbClr val="C0B8A8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59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02 и 03  —  Интеграции и требования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поток данных на диаграмме — это требование к системе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060704"/>
            <a:ext cx="8503920" cy="347472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972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Актор / Система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55648" y="109728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передаётся в платформу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41648" y="109728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платформа возвращает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27648" y="109728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решение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408176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4475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СКУД + LPR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1444752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ГРЗ + вероятность распознавания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0" y="1444752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 доступа: разрешён / запрещён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09360" y="1444752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проверки ГРЗ по БД договоров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883664"/>
            <a:ext cx="8503920" cy="475488"/>
          </a:xfrm>
          <a:prstGeom prst="rect">
            <a:avLst/>
          </a:prstGeom>
          <a:solidFill>
            <a:srgbClr val="F0EDE6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92024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 / ЮЛ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37360" y="1920240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Профиль, договор, тип ТС, льготы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23360" y="1920240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Тариф, место, уведомления, чеки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192024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тарификации по 5 параметрам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359152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39572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Платёж. система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37360" y="2395728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платежа, id, квитанция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23360" y="2395728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к оплате, id, запрос возврата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239572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Двухконтурная оплата: онлайн + терминал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03920" cy="475488"/>
          </a:xfrm>
          <a:prstGeom prst="rect">
            <a:avLst/>
          </a:prstGeom>
          <a:solidFill>
            <a:srgbClr val="F0EDE6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87121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ОФД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37360" y="2871216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Фискальный чек + статус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23360" y="2871216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 к фискализации + id платежа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2871216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Обязательная фискализация каждого платежа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310128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346704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(только ФЛ)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37360" y="3346704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аутентификации, id, атрибуты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023360" y="3346704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Редирект на провайдера (Яндекс, VK, Госуслуги)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346704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схемы входа: ФЛ — SSO, ЮЛ — логин/пароль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785616"/>
            <a:ext cx="8503920" cy="475488"/>
          </a:xfrm>
          <a:prstGeom prst="rect">
            <a:avLst/>
          </a:prstGeom>
          <a:solidFill>
            <a:srgbClr val="F0EDE6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2219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Охранник КПП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37360" y="3822192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ввод ГРЗ, решение по доступу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023360" y="3822192"/>
            <a:ext cx="2176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клиента, категория ТС, инструкции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09360" y="3822192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сценарий при сбое автоматики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370832"/>
            <a:ext cx="8503920" cy="402336"/>
          </a:xfrm>
          <a:prstGeom prst="rect">
            <a:avLst/>
          </a:prstGeom>
          <a:solidFill>
            <a:srgbClr val="E4DECE"/>
          </a:solidFill>
          <a:ln w="12700">
            <a:solidFill>
              <a:srgbClr val="C0B4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внешних сущностей · 40+ именованных потоков данных · каждый поток = минимум одно функциональное требование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59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B2B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73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463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диаграмма говорит о масштабе работы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3822192"/>
          </a:xfrm>
          <a:prstGeom prst="rect">
            <a:avLst/>
          </a:prstGeom>
          <a:solidFill>
            <a:srgbClr val="1E3050"/>
          </a:solidFill>
          <a:ln w="12700">
            <a:solidFill>
              <a:srgbClr val="C59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804672"/>
            <a:ext cx="1371600" cy="310896"/>
          </a:xfrm>
          <a:prstGeom prst="rect">
            <a:avLst/>
          </a:prstGeom>
          <a:solidFill>
            <a:srgbClr val="C59B4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8046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" y="1307592"/>
            <a:ext cx="100584" cy="100584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216152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СКУД + LPR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1453896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проезд по ГРЗ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" y="1801368"/>
            <a:ext cx="100584" cy="100584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1709928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 + ЮЛ (базовый)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1947672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Договор, оплата, уведомления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2295144"/>
            <a:ext cx="100584" cy="100584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203704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Платёжная система + Терминал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" y="2441448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и офлайн-оплата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" y="2788920"/>
            <a:ext cx="100584" cy="100584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2697480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" y="2935224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Обязательная фискализация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" y="3282696"/>
            <a:ext cx="100584" cy="100584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191256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уведомлений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" y="3429000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+ операционные уведомления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" y="3776472"/>
            <a:ext cx="100584" cy="100584"/>
          </a:xfrm>
          <a:prstGeom prst="ellipse">
            <a:avLst/>
          </a:prstGeom>
          <a:solidFill>
            <a:srgbClr val="C59B4A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3685032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Табло и дисплеи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" y="3922776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обратная связь водителю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" y="4251960"/>
            <a:ext cx="3785616" cy="256032"/>
          </a:xfrm>
          <a:prstGeom prst="rect">
            <a:avLst/>
          </a:prstGeom>
          <a:solidFill>
            <a:srgbClr val="2A406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" y="425196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интеграций · критичный путь клиента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804672"/>
            <a:ext cx="4114800" cy="3822192"/>
          </a:xfrm>
          <a:prstGeom prst="rect">
            <a:avLst/>
          </a:prstGeom>
          <a:solidFill>
            <a:srgbClr val="18203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65192" y="804672"/>
            <a:ext cx="1371600" cy="310896"/>
          </a:xfrm>
          <a:prstGeom prst="rect">
            <a:avLst/>
          </a:prstGeom>
          <a:solidFill>
            <a:srgbClr val="8AACCA"/>
          </a:solidFill>
          <a:ln/>
        </p:spPr>
      </p:sp>
      <p:sp>
        <p:nvSpPr>
          <p:cNvPr id="31" name="Text 29"/>
          <p:cNvSpPr/>
          <p:nvPr/>
        </p:nvSpPr>
        <p:spPr>
          <a:xfrm>
            <a:off x="4965192" y="8046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ПОСТАВКА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01768" y="1307592"/>
            <a:ext cx="100584" cy="100584"/>
          </a:xfrm>
          <a:prstGeom prst="ellipse">
            <a:avLst/>
          </a:prstGeom>
          <a:solidFill>
            <a:srgbClr val="8AACCA"/>
          </a:solidFill>
          <a:ln/>
        </p:spPr>
      </p:sp>
      <p:sp>
        <p:nvSpPr>
          <p:cNvPr id="33" name="Text 31"/>
          <p:cNvSpPr/>
          <p:nvPr/>
        </p:nvSpPr>
        <p:spPr>
          <a:xfrm>
            <a:off x="5184648" y="1216152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IdP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84648" y="1453896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 ID, VK ID, Госуслуги (только ФЛ)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01768" y="1801368"/>
            <a:ext cx="100584" cy="100584"/>
          </a:xfrm>
          <a:prstGeom prst="ellipse">
            <a:avLst/>
          </a:prstGeom>
          <a:solidFill>
            <a:srgbClr val="8AACCA"/>
          </a:solidFill>
          <a:ln/>
        </p:spPr>
      </p:sp>
      <p:sp>
        <p:nvSpPr>
          <p:cNvPr id="36" name="Text 34"/>
          <p:cNvSpPr/>
          <p:nvPr/>
        </p:nvSpPr>
        <p:spPr>
          <a:xfrm>
            <a:off x="5184648" y="1709928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ЭДО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84648" y="1947672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Договоры и счета для ЮЛ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01768" y="2295144"/>
            <a:ext cx="100584" cy="100584"/>
          </a:xfrm>
          <a:prstGeom prst="ellipse">
            <a:avLst/>
          </a:prstGeom>
          <a:solidFill>
            <a:srgbClr val="8AACCA"/>
          </a:solidFill>
          <a:ln/>
        </p:spPr>
      </p:sp>
      <p:sp>
        <p:nvSpPr>
          <p:cNvPr id="39" name="Text 37"/>
          <p:cNvSpPr/>
          <p:nvPr/>
        </p:nvSpPr>
        <p:spPr>
          <a:xfrm>
            <a:off x="5184648" y="2203704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Биллинг / 1С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84648" y="2441448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Выгрузки в учётную систему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01768" y="2788920"/>
            <a:ext cx="100584" cy="100584"/>
          </a:xfrm>
          <a:prstGeom prst="ellipse">
            <a:avLst/>
          </a:prstGeom>
          <a:solidFill>
            <a:srgbClr val="8AACCA"/>
          </a:solidFill>
          <a:ln/>
        </p:spPr>
      </p:sp>
      <p:sp>
        <p:nvSpPr>
          <p:cNvPr id="42" name="Text 40"/>
          <p:cNvSpPr/>
          <p:nvPr/>
        </p:nvSpPr>
        <p:spPr>
          <a:xfrm>
            <a:off x="5184648" y="2697480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 аналитика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84648" y="2935224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Дашборды и отчёты управляющего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01768" y="3282696"/>
            <a:ext cx="100584" cy="100584"/>
          </a:xfrm>
          <a:prstGeom prst="ellipse">
            <a:avLst/>
          </a:prstGeom>
          <a:solidFill>
            <a:srgbClr val="8AACCA"/>
          </a:solidFill>
          <a:ln/>
        </p:spPr>
      </p:sp>
      <p:sp>
        <p:nvSpPr>
          <p:cNvPr id="45" name="Text 43"/>
          <p:cNvSpPr/>
          <p:nvPr/>
        </p:nvSpPr>
        <p:spPr>
          <a:xfrm>
            <a:off x="5184648" y="3191256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Геосервисы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84648" y="3429000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наполненности парковки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01768" y="3776472"/>
            <a:ext cx="100584" cy="100584"/>
          </a:xfrm>
          <a:prstGeom prst="ellipse">
            <a:avLst/>
          </a:prstGeom>
          <a:solidFill>
            <a:srgbClr val="8AACCA"/>
          </a:solidFill>
          <a:ln/>
        </p:spPr>
      </p:sp>
      <p:sp>
        <p:nvSpPr>
          <p:cNvPr id="48" name="Text 46"/>
          <p:cNvSpPr/>
          <p:nvPr/>
        </p:nvSpPr>
        <p:spPr>
          <a:xfrm>
            <a:off x="5184648" y="3685032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Расширенный ЭДО ЮЛ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84648" y="3922776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Акты сверки, дополнительные соглашения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65192" y="4251960"/>
            <a:ext cx="3785616" cy="256032"/>
          </a:xfrm>
          <a:prstGeom prst="rect">
            <a:avLst/>
          </a:prstGeom>
          <a:solidFill>
            <a:srgbClr val="20283A"/>
          </a:solidFill>
          <a:ln/>
        </p:spPr>
      </p:sp>
      <p:sp>
        <p:nvSpPr>
          <p:cNvPr id="51" name="Text 49"/>
          <p:cNvSpPr/>
          <p:nvPr/>
        </p:nvSpPr>
        <p:spPr>
          <a:xfrm>
            <a:off x="4965192" y="425196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интеграций · расширение возможностей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2026-03-16T16:05:30Z</dcterms:created>
  <dcterms:modified xsi:type="dcterms:W3CDTF">2026-03-16T16:05:30Z</dcterms:modified>
</cp:coreProperties>
</file>